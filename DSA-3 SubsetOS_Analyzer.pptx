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11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54864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54864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54864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54864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7" name="Shape 5"/>
          <p:cNvSpPr/>
          <p:nvPr/>
        </p:nvSpPr>
        <p:spPr>
          <a:xfrm>
            <a:off x="10378440" y="54864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54864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1384280" y="54864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105156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1" name="Shape 9"/>
          <p:cNvSpPr/>
          <p:nvPr/>
        </p:nvSpPr>
        <p:spPr>
          <a:xfrm>
            <a:off x="8366760" y="105156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5156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372600" y="105156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0" y="105156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78440" y="105156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81360" y="105156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84280" y="105156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55448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6760" y="155448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680" y="155448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1" name="Shape 19"/>
          <p:cNvSpPr/>
          <p:nvPr/>
        </p:nvSpPr>
        <p:spPr>
          <a:xfrm>
            <a:off x="9372600" y="155448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9875520" y="155448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78440" y="155448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81360" y="155448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84280" y="155448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0" y="205740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6760" y="205740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8" name="Shape 26"/>
          <p:cNvSpPr/>
          <p:nvPr/>
        </p:nvSpPr>
        <p:spPr>
          <a:xfrm>
            <a:off x="8869680" y="205740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9372600" y="205740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9875520" y="205740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78440" y="205740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81360" y="205740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4280" y="205740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256032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35" name="Shape 33"/>
          <p:cNvSpPr/>
          <p:nvPr/>
        </p:nvSpPr>
        <p:spPr>
          <a:xfrm>
            <a:off x="8366760" y="256032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36" name="Shape 34"/>
          <p:cNvSpPr/>
          <p:nvPr/>
        </p:nvSpPr>
        <p:spPr>
          <a:xfrm>
            <a:off x="8869680" y="256032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9372600" y="256032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38" name="Shape 36"/>
          <p:cNvSpPr/>
          <p:nvPr/>
        </p:nvSpPr>
        <p:spPr>
          <a:xfrm>
            <a:off x="9875520" y="256032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378440" y="256032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81360" y="256032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84280" y="2560320"/>
            <a:ext cx="384048" cy="384048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 |  25CS2103E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94360" y="196596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SubsetOS Analyzer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Optimization Tool built on Sum Over Subsets (SOS) Dynamic Programming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" y="4297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Rishik (2520030314)
G. Hemanth (2520030071)
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37760" y="42976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21  |  Section 3
</a:t>
            </a:r>
            <a:r>
              <a:rPr lang="en-US" sz="12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J. Sirisha Devi, Professor, CSE Dept.
KLH University, Bachupally — A.Y. 2026-2027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95360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0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906256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906256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217152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217152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528048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528048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38944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838944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18872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Subset-based problems are common in competitive programming and real-world applications such as combinatorics and bitmasking, but brute-force computation of subset sums takes O(3^N) time, which becomes very slow as N grows. SubsetOS Analyzer implements the Sum Over Subsets (SOS) Dynamic Programming technique to bring this down to O(N × 2^N). The tool lets users input a set of elements, run multiple subset queries, and instantly view aggregate subset values, while a visualization module shows bitmask transitions and how the DP table fills level by level — alongside a live brute-force vs. SOS DP timing comparison.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498080" y="118872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E8F1F5"/>
          </a:solidFill>
          <a:ln/>
          <a:effectLst>
            <a:outerShdw blurRad="101600" dist="25400" dir="5400000" algn="bl" rotWithShape="0">
              <a:srgbClr val="5C6B73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LEAP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O(3^N)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subset sum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8120" y="2880360"/>
            <a:ext cx="3474720" cy="0"/>
          </a:xfrm>
          <a:prstGeom prst="line">
            <a:avLst/>
          </a:prstGeom>
          <a:noFill/>
          <a:ln w="12700">
            <a:solidFill>
              <a:srgbClr val="B9C9D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818120" y="3063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O(N·2^N)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81812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Subsets DP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4251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4311396"/>
            <a:ext cx="338328" cy="33832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1248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faster for large 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SubsetOS Analyzer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95360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0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906256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906256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217152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217152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528048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528048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38944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838944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143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real-world and competitive-programming tasks require computing an aggregate value (sum, count, OR, etc.) over every subset of a subset, repeated across many queries. The naive way to do this is painfully slow — and gets worse fast as the input grows.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3337560" cy="3749040"/>
          </a:xfrm>
          <a:prstGeom prst="roundRect">
            <a:avLst>
              <a:gd name="adj" fmla="val 2192"/>
            </a:avLst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274320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1" y="2824033"/>
            <a:ext cx="460126" cy="46012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41248" y="361188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is exponential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1248" y="4343400"/>
            <a:ext cx="275234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over all subsets of every subset costs O(3^N) time — infeasible beyond small 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06240" y="2377440"/>
            <a:ext cx="3337560" cy="3749040"/>
          </a:xfrm>
          <a:prstGeom prst="roundRect">
            <a:avLst>
              <a:gd name="adj" fmla="val 2192"/>
            </a:avLst>
          </a:prstGeom>
          <a:solidFill>
            <a:srgbClr val="E8F1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498848" y="274320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681" y="2824033"/>
            <a:ext cx="460126" cy="46012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98848" y="361188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queries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498848" y="4343400"/>
            <a:ext cx="275234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fire many subset-sum queries; recomputing from scratch each time wastes work.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863840" y="2377440"/>
            <a:ext cx="3337560" cy="3749040"/>
          </a:xfrm>
          <a:prstGeom prst="roundRect">
            <a:avLst>
              <a:gd name="adj" fmla="val 2192"/>
            </a:avLst>
          </a:prstGeom>
          <a:solidFill>
            <a:srgbClr val="E8F1F5"/>
          </a:solidFill>
          <a:ln/>
        </p:spPr>
      </p:sp>
      <p:sp>
        <p:nvSpPr>
          <p:cNvPr id="25" name="Shape 21"/>
          <p:cNvSpPr/>
          <p:nvPr/>
        </p:nvSpPr>
        <p:spPr>
          <a:xfrm>
            <a:off x="8156448" y="274320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7281" y="2824033"/>
            <a:ext cx="460126" cy="46012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56448" y="361188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the process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156448" y="4343400"/>
            <a:ext cx="275234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users rarely get to see how the DP transitions bit-by-bit, making the technique hard to grasp.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SubsetOS Analyzer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95360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0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906256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906256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217152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217152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528048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528048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38944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838944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4630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B2652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17830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1" y="1863913"/>
            <a:ext cx="460126" cy="4601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4592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Query Engine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1248" y="2560320"/>
            <a:ext cx="4626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set of N elements and answers multiple subset-aggregate queries (sum / OR / count) in one run.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26480" y="14630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B2652"/>
          </a:solidFill>
          <a:ln/>
        </p:spPr>
      </p:sp>
      <p:sp>
        <p:nvSpPr>
          <p:cNvPr id="19" name="Shape 16"/>
          <p:cNvSpPr/>
          <p:nvPr/>
        </p:nvSpPr>
        <p:spPr>
          <a:xfrm>
            <a:off x="6419088" y="17830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921" y="1863913"/>
            <a:ext cx="460126" cy="46012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DP Computation Core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19088" y="2560320"/>
            <a:ext cx="4626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SOS DP table dimension-by-dimension in O(N × 2^N), replacing repeated brute-force recomputation.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4864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B2652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" y="411480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81" y="4195633"/>
            <a:ext cx="460126" cy="46012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45920" y="4160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Bitmask Visualization Module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41248" y="4892040"/>
            <a:ext cx="4626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subset relationships and shows the DP table filling level by level as each bit dimension is processed.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12648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B2652"/>
          </a:solidFill>
          <a:ln/>
        </p:spPr>
      </p:sp>
      <p:sp>
        <p:nvSpPr>
          <p:cNvPr id="29" name="Shape 24"/>
          <p:cNvSpPr/>
          <p:nvPr/>
        </p:nvSpPr>
        <p:spPr>
          <a:xfrm>
            <a:off x="6419088" y="411480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921" y="4195633"/>
            <a:ext cx="460126" cy="46012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23760" y="4160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 Dashboard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6419088" y="4892040"/>
            <a:ext cx="4626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brute-force vs. SOS DP execution time as N scales, making the efficiency gap visually obvious.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SubsetOS Analyzer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595360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0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906256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906256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217152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217152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528048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528048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38944" y="502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838944" y="502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1627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2" y="1693012"/>
            <a:ext cx="372161" cy="37216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04672" y="2240280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" y="248716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JAVA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2907792"/>
            <a:ext cx="2916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SOS DP &amp; brute-force logic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33672" y="1371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489704" y="1627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084" y="1693012"/>
            <a:ext cx="372161" cy="37216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89704" y="2240280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489704" y="248716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Bitmask DP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489704" y="2907792"/>
            <a:ext cx="2916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Subsets transition technique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918704" y="1371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26" name="Shape 22"/>
          <p:cNvSpPr/>
          <p:nvPr/>
        </p:nvSpPr>
        <p:spPr>
          <a:xfrm>
            <a:off x="8174736" y="1627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116" y="1693012"/>
            <a:ext cx="372161" cy="37216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74736" y="2240280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174736" y="248716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 err="1"/>
              <a:t>renderDPTable</a:t>
            </a:r>
            <a:r>
              <a:rPr lang="en-IN" b="1" dirty="0"/>
              <a:t>()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174736" y="2907792"/>
            <a:ext cx="2916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table &amp; bitmask transition rendering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48640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32" name="Shape 27"/>
          <p:cNvSpPr/>
          <p:nvPr/>
        </p:nvSpPr>
        <p:spPr>
          <a:xfrm>
            <a:off x="804672" y="38679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052" y="3933292"/>
            <a:ext cx="372161" cy="37216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04672" y="4480560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04672" y="472744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 err="1"/>
              <a:t>benchmarkPerformance</a:t>
            </a:r>
            <a:r>
              <a:rPr lang="en-IN" b="1" dirty="0"/>
              <a:t>()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804672" y="5148072"/>
            <a:ext cx="2916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vs SOS DP timing capture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233672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38" name="Shape 32"/>
          <p:cNvSpPr/>
          <p:nvPr/>
        </p:nvSpPr>
        <p:spPr>
          <a:xfrm>
            <a:off x="4489704" y="38679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084" y="3933292"/>
            <a:ext cx="372161" cy="372161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489704" y="4480560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4489704" y="472744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Test Sets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4489704" y="5148072"/>
            <a:ext cx="2916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N to validate correctness &amp; speed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7918704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44" name="Shape 37"/>
          <p:cNvSpPr/>
          <p:nvPr/>
        </p:nvSpPr>
        <p:spPr>
          <a:xfrm>
            <a:off x="8174736" y="38679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0116" y="3933292"/>
            <a:ext cx="372161" cy="372161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174736" y="4480560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8174736" y="472744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/ GitHub</a:t>
            </a:r>
            <a:endParaRPr lang="en-US" sz="1600" dirty="0"/>
          </a:p>
        </p:txBody>
      </p:sp>
      <p:sp>
        <p:nvSpPr>
          <p:cNvPr id="48" name="Text 40"/>
          <p:cNvSpPr/>
          <p:nvPr/>
        </p:nvSpPr>
        <p:spPr>
          <a:xfrm>
            <a:off x="8174736" y="5148072"/>
            <a:ext cx="2916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code tracking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SubsetOS Analyzer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02920"/>
            <a:ext cx="347472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5029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5029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5029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502920"/>
            <a:ext cx="347472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029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9601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9" name="Shape 7"/>
          <p:cNvSpPr/>
          <p:nvPr/>
        </p:nvSpPr>
        <p:spPr>
          <a:xfrm>
            <a:off x="9052560" y="960120"/>
            <a:ext cx="347472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0" y="9601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1" name="Shape 9"/>
          <p:cNvSpPr/>
          <p:nvPr/>
        </p:nvSpPr>
        <p:spPr>
          <a:xfrm>
            <a:off x="9966960" y="9601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9601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0" y="960120"/>
            <a:ext cx="347472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0" y="14173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4173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1417320"/>
            <a:ext cx="347472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966960" y="14173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24160" y="14173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360" y="14173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0" y="18745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18745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18745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9966960" y="1874520"/>
            <a:ext cx="347472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24160" y="18745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81360" y="1874520"/>
            <a:ext cx="347472" cy="347472"/>
          </a:xfrm>
          <a:prstGeom prst="rect">
            <a:avLst/>
          </a:prstGeom>
          <a:solidFill>
            <a:srgbClr val="2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8640" y="13716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B2652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16642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1735531"/>
            <a:ext cx="405994" cy="40599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54480" y="1627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Subset Engine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822960" y="23317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tool that answers subset-aggregate queries in O(N × 2^N), replacing exponential brute-force computation.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126480" y="13716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B2652"/>
          </a:solidFill>
          <a:ln/>
        </p:spPr>
      </p:sp>
      <p:sp>
        <p:nvSpPr>
          <p:cNvPr id="33" name="Shape 30"/>
          <p:cNvSpPr/>
          <p:nvPr/>
        </p:nvSpPr>
        <p:spPr>
          <a:xfrm>
            <a:off x="6400800" y="16642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123" y="1735531"/>
            <a:ext cx="405994" cy="40599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32320" y="1627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 Understanding</a:t>
            </a:r>
            <a:endParaRPr lang="en-US" sz="1550" dirty="0"/>
          </a:p>
        </p:txBody>
      </p:sp>
      <p:sp>
        <p:nvSpPr>
          <p:cNvPr id="36" name="Text 32"/>
          <p:cNvSpPr/>
          <p:nvPr/>
        </p:nvSpPr>
        <p:spPr>
          <a:xfrm>
            <a:off x="6400800" y="23317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view of bitmask transitions and DP table construction that makes SOS DP intuitive, not just theoretical.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548640" y="38404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B2652"/>
          </a:solidFill>
          <a:ln/>
        </p:spPr>
      </p:sp>
      <p:sp>
        <p:nvSpPr>
          <p:cNvPr id="38" name="Shape 34"/>
          <p:cNvSpPr/>
          <p:nvPr/>
        </p:nvSpPr>
        <p:spPr>
          <a:xfrm>
            <a:off x="822960" y="41330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4204411"/>
            <a:ext cx="405994" cy="40599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554480" y="40965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Performance Gap</a:t>
            </a:r>
            <a:endParaRPr lang="en-US" sz="1550" dirty="0"/>
          </a:p>
        </p:txBody>
      </p:sp>
      <p:sp>
        <p:nvSpPr>
          <p:cNvPr id="41" name="Text 36"/>
          <p:cNvSpPr/>
          <p:nvPr/>
        </p:nvSpPr>
        <p:spPr>
          <a:xfrm>
            <a:off x="822960" y="4800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graphs that clearly demonstrate SOS DP's speed advantage over brute-force as N scales up.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6126480" y="38404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B2652"/>
          </a:solidFill>
          <a:ln/>
        </p:spPr>
      </p:sp>
      <p:sp>
        <p:nvSpPr>
          <p:cNvPr id="43" name="Shape 38"/>
          <p:cNvSpPr/>
          <p:nvPr/>
        </p:nvSpPr>
        <p:spPr>
          <a:xfrm>
            <a:off x="6400800" y="41330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204411"/>
            <a:ext cx="405994" cy="40599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132320" y="40965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DP Foundations</a:t>
            </a:r>
            <a:endParaRPr lang="en-US" sz="1550" dirty="0"/>
          </a:p>
        </p:txBody>
      </p:sp>
      <p:sp>
        <p:nvSpPr>
          <p:cNvPr id="46" name="Text 40"/>
          <p:cNvSpPr/>
          <p:nvPr/>
        </p:nvSpPr>
        <p:spPr>
          <a:xfrm>
            <a:off x="6400800" y="4800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understanding of bitmask dynamic programming and optimization thinking applicable beyond this project.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SubsetOS Analyzer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624</Words>
  <Application>Microsoft Office PowerPoint</Application>
  <PresentationFormat>Widescreen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Rishik</dc:creator>
  <cp:lastModifiedBy>Rishik Burgula</cp:lastModifiedBy>
  <cp:revision>2</cp:revision>
  <dcterms:created xsi:type="dcterms:W3CDTF">2026-08-20T04:39:24Z</dcterms:created>
  <dcterms:modified xsi:type="dcterms:W3CDTF">2026-10-01T05:29:28Z</dcterms:modified>
</cp:coreProperties>
</file>